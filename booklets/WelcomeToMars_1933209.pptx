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Catamaran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Catamaran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Catamara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e9c53efd4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ce9c53efd4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e9c53efd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ce9c53ef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e9c53ef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ce9c53ef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e9c53ef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ce9c53ef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e9c53efd4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ce9c53efd4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e9c53efd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ce9c53efd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e9c53efd4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ce9c53efd4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e9c53efd4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ce9c53efd4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e9c53efd4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ce9c53efd4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4143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4143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2336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2336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13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4143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52336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2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1" type="subTitle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5" name="Google Shape;115;p15"/>
          <p:cNvSpPr txBox="1"/>
          <p:nvPr>
            <p:ph idx="2" type="body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2">
            <a:alphaModFix/>
          </a:blip>
          <a:srcRect b="17785" l="0" r="0" t="13651"/>
          <a:stretch/>
        </p:blipFill>
        <p:spPr>
          <a:xfrm>
            <a:off x="0" y="4597050"/>
            <a:ext cx="6071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>
            <p:ph idx="3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atamaran"/>
              <a:buNone/>
              <a:defRPr sz="42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6259425" y="2453225"/>
            <a:ext cx="2884575" cy="269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830400" y="1170063"/>
            <a:ext cx="548700" cy="882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379100" y="1170063"/>
            <a:ext cx="548700" cy="882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4143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4143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2336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2336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18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4143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2336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 rotWithShape="1">
          <a:blip r:embed="rId2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1" type="subTitle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9" name="Google Shape;169;p20"/>
          <p:cNvSpPr txBox="1"/>
          <p:nvPr>
            <p:ph idx="2" type="body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2">
            <a:alphaModFix/>
          </a:blip>
          <a:srcRect b="17785" l="0" r="0" t="13651"/>
          <a:stretch/>
        </p:blipFill>
        <p:spPr>
          <a:xfrm>
            <a:off x="0" y="4597050"/>
            <a:ext cx="6071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 txBox="1"/>
          <p:nvPr>
            <p:ph idx="3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0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2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tamaran"/>
              <a:buNone/>
              <a:defRPr b="1" i="0" sz="28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tamaran"/>
              <a:buChar char="●"/>
              <a:defRPr b="0" i="0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3200">
                <a:latin typeface="Raleway"/>
                <a:ea typeface="Raleway"/>
                <a:cs typeface="Raleway"/>
                <a:sym typeface="Raleway"/>
              </a:rPr>
              <a:t>Welcome to Mars. Please Don’t Die.</a:t>
            </a:r>
            <a:endParaRPr sz="3200"/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729625" y="3172900"/>
            <a:ext cx="76881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latin typeface="Lato"/>
                <a:ea typeface="Lato"/>
                <a:cs typeface="Lato"/>
                <a:sym typeface="Lato"/>
              </a:rPr>
              <a:t>Gaia Rossi 1933502 - Alessio Vernarelli 1946128 - Beatrice Vinciguerra 1933209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latin typeface="Lato"/>
                <a:ea typeface="Lato"/>
                <a:cs typeface="Lato"/>
                <a:sym typeface="Lato"/>
              </a:rPr>
              <a:t>Laboratory of Advanced Programming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>
                <a:latin typeface="Lato"/>
                <a:ea typeface="Lato"/>
                <a:cs typeface="Lato"/>
                <a:sym typeface="Lato"/>
              </a:rPr>
              <a:t>Sapienza University of Rome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9" name="Google Shape;189;p22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Table of contents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583700" y="198330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Description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5403000" y="198330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User stories &amp; Mockups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1583700" y="293780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Architectural diagram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403000" y="293780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Technologies used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583700" y="387525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Containerization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5403000" y="387525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Demo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Description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A distributed automation platform capable of ingesting heterogeneous sensor data, normalizing it into a </a:t>
            </a:r>
            <a:r>
              <a:rPr b="1" lang="it" sz="1500"/>
              <a:t>unified internal representation</a:t>
            </a:r>
            <a:r>
              <a:rPr lang="it" sz="1500"/>
              <a:t>, evaluating simple </a:t>
            </a:r>
            <a:r>
              <a:rPr b="1" lang="it" sz="1500"/>
              <a:t>automation rules </a:t>
            </a:r>
            <a:r>
              <a:rPr lang="it" sz="1500"/>
              <a:t>dynamically</a:t>
            </a:r>
            <a:r>
              <a:rPr lang="it" sz="1500"/>
              <a:t> to allow both manual and automatic activation of actuators, and providing a </a:t>
            </a:r>
            <a:r>
              <a:rPr b="1" lang="it" sz="1500"/>
              <a:t>real-time dashboard</a:t>
            </a:r>
            <a:r>
              <a:rPr lang="it" sz="1500"/>
              <a:t> for habitat monitoring and </a:t>
            </a:r>
            <a:r>
              <a:rPr b="1" lang="it" sz="1500"/>
              <a:t>plots</a:t>
            </a:r>
            <a:r>
              <a:rPr lang="it" sz="1500"/>
              <a:t> showing recent history of data.</a:t>
            </a:r>
            <a:endParaRPr sz="1500"/>
          </a:p>
        </p:txBody>
      </p:sp>
      <p:sp>
        <p:nvSpPr>
          <p:cNvPr id="202" name="Google Shape;202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3" name="Google Shape;203;p23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User Stories &amp; Mockups</a:t>
            </a:r>
            <a:endParaRPr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727650" y="1453937"/>
            <a:ext cx="7688700" cy="27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visualize current data coming from REST sensors so that I can monitor the situation.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visualize telemetries coming from sensors so that I can monitor the situation.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be able to select the specific sensor data I want to plot so that I can analyze them in detail.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be able to manually refresh values captured by the sensors so that I can get the most up to date information.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set the value of the refreshing interval so that I can decide the frequency.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add an automation rule to automate my reaction to the environment.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update the threshold of an automation rule so that I can customize my rules.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delete an automation rule so that I can get rid of it if I don’t need it anymore.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be able to visualize the actual state of all the actuators so that I can monitor the situation.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manually change the state of the actuators so that I can have more control.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the values over the threshold to be highlighted so that I can easily understand what is happening.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see some metrics (average, max, min) about received data so that I can analyse them.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see the last triggered automation rule so that I know when the system reacts automatically.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be able to export useful data into pdf files so that I can process them offline.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be able to activate/disable an automation rule so that I can have more flexibility and handle critical situations.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it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Mars operator, I want to be able to see the list of automation rules, so that I can manage them.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1" name="Google Shape;211;p24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idx="4294967295"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Description</a:t>
            </a:r>
            <a:endParaRPr/>
          </a:p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25"/>
          <p:cNvSpPr txBox="1"/>
          <p:nvPr>
            <p:ph idx="4294967295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219" name="Google Shape;2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170" y="72340"/>
            <a:ext cx="3840128" cy="2482560"/>
          </a:xfrm>
          <a:prstGeom prst="rect">
            <a:avLst/>
          </a:prstGeom>
          <a:noFill/>
          <a:ln>
            <a:noFill/>
          </a:ln>
          <a:effectLst>
            <a:outerShdw blurRad="55169" rotWithShape="0" algn="bl" dir="5400000" dist="18390">
              <a:srgbClr val="000000">
                <a:alpha val="50000"/>
              </a:srgbClr>
            </a:outerShdw>
          </a:effectLst>
        </p:spPr>
      </p:pic>
      <p:pic>
        <p:nvPicPr>
          <p:cNvPr id="220" name="Google Shape;22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627" y="72316"/>
            <a:ext cx="3840220" cy="2482619"/>
          </a:xfrm>
          <a:prstGeom prst="rect">
            <a:avLst/>
          </a:prstGeom>
          <a:noFill/>
          <a:ln>
            <a:noFill/>
          </a:ln>
          <a:effectLst>
            <a:outerShdw blurRad="55169" rotWithShape="0" algn="bl" dir="5400000" dist="18390">
              <a:srgbClr val="000000">
                <a:alpha val="50000"/>
              </a:srgbClr>
            </a:outerShdw>
          </a:effectLst>
        </p:spPr>
      </p:pic>
      <p:pic>
        <p:nvPicPr>
          <p:cNvPr id="221" name="Google Shape;22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663" y="2580180"/>
            <a:ext cx="3840128" cy="2482596"/>
          </a:xfrm>
          <a:prstGeom prst="rect">
            <a:avLst/>
          </a:prstGeom>
          <a:noFill/>
          <a:ln>
            <a:noFill/>
          </a:ln>
          <a:effectLst>
            <a:outerShdw blurRad="55169" rotWithShape="0" algn="bl" dir="5400000" dist="18390">
              <a:srgbClr val="000000">
                <a:alpha val="50000"/>
              </a:srgbClr>
            </a:outerShdw>
          </a:effectLst>
        </p:spPr>
      </p:pic>
      <p:pic>
        <p:nvPicPr>
          <p:cNvPr id="222" name="Google Shape;22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4675" y="2580160"/>
            <a:ext cx="3840133" cy="2482619"/>
          </a:xfrm>
          <a:prstGeom prst="rect">
            <a:avLst/>
          </a:prstGeom>
          <a:noFill/>
          <a:ln>
            <a:noFill/>
          </a:ln>
          <a:effectLst>
            <a:outerShdw blurRad="55169" rotWithShape="0" algn="bl" dir="5400000" dist="18390">
              <a:srgbClr val="000000">
                <a:alpha val="50000"/>
              </a:srgbClr>
            </a:outerShdw>
          </a:effectLst>
        </p:spPr>
      </p:pic>
      <p:sp>
        <p:nvSpPr>
          <p:cNvPr id="223" name="Google Shape;223;p25"/>
          <p:cNvSpPr/>
          <p:nvPr/>
        </p:nvSpPr>
        <p:spPr>
          <a:xfrm>
            <a:off x="3664325" y="2958350"/>
            <a:ext cx="689100" cy="11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3678425" y="2894000"/>
            <a:ext cx="660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 A NEW RULE</a:t>
            </a:r>
            <a:endParaRPr b="1" sz="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Architectural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diagram</a:t>
            </a:r>
            <a:endParaRPr/>
          </a:p>
        </p:txBody>
      </p:sp>
      <p:sp>
        <p:nvSpPr>
          <p:cNvPr id="230" name="Google Shape;230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1" name="Google Shape;231;p26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232" name="Google Shape;232;p26" title="Architectur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626" y="983325"/>
            <a:ext cx="5617250" cy="37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Unified Event Schema</a:t>
            </a:r>
            <a:endParaRPr/>
          </a:p>
        </p:txBody>
      </p:sp>
      <p:sp>
        <p:nvSpPr>
          <p:cNvPr id="238" name="Google Shape;238;p27"/>
          <p:cNvSpPr txBox="1"/>
          <p:nvPr>
            <p:ph idx="1" type="body"/>
          </p:nvPr>
        </p:nvSpPr>
        <p:spPr>
          <a:xfrm>
            <a:off x="727650" y="1622025"/>
            <a:ext cx="3667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NormalizedEvent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sourceId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SourceType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sourceType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schema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Measurement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measurements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500"/>
          </a:p>
        </p:txBody>
      </p:sp>
      <p:sp>
        <p:nvSpPr>
          <p:cNvPr id="239" name="Google Shape;239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0" name="Google Shape;240;p27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5387250" y="1622025"/>
            <a:ext cx="25380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Measurement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metric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unit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5387250" y="3537500"/>
            <a:ext cx="24876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SourceType</a:t>
            </a: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REST,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STREAM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Technologies used</a:t>
            </a:r>
            <a:endParaRPr/>
          </a:p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9" name="Google Shape;249;p28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250" name="Google Shape;2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883" y="1614353"/>
            <a:ext cx="887600" cy="8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099" y="2750149"/>
            <a:ext cx="851875" cy="8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3685" y="1578650"/>
            <a:ext cx="959000" cy="9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0185" y="2719305"/>
            <a:ext cx="959000" cy="989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4425" y="3672725"/>
            <a:ext cx="2387651" cy="13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>
            <p:ph idx="1" type="body"/>
          </p:nvPr>
        </p:nvSpPr>
        <p:spPr>
          <a:xfrm>
            <a:off x="727650" y="1622025"/>
            <a:ext cx="7688700" cy="29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Docker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Spring Boot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RabbitMQ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PostgreSQL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HTML, CSS, JavaScript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Containers</a:t>
            </a:r>
            <a:endParaRPr/>
          </a:p>
        </p:txBody>
      </p:sp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2467400" y="1747375"/>
            <a:ext cx="104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simulator</a:t>
            </a:r>
            <a:endParaRPr sz="1500"/>
          </a:p>
        </p:txBody>
      </p:sp>
      <p:sp>
        <p:nvSpPr>
          <p:cNvPr id="262" name="Google Shape;262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3" name="Google Shape;263;p29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it" sz="900"/>
              <a:t>Welcome to Mars. Please Don’t Die.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225" y="3646553"/>
            <a:ext cx="1115250" cy="7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425" y="2591878"/>
            <a:ext cx="1115250" cy="7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351" y="1623353"/>
            <a:ext cx="1115250" cy="7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225" y="2591865"/>
            <a:ext cx="1115250" cy="7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225" y="1623353"/>
            <a:ext cx="1115250" cy="7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425" y="3685490"/>
            <a:ext cx="1115250" cy="7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2467400" y="2700063"/>
            <a:ext cx="104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postgres</a:t>
            </a:r>
            <a:endParaRPr sz="1500"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2467400" y="3820863"/>
            <a:ext cx="128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rabbitmq</a:t>
            </a:r>
            <a:endParaRPr sz="1500"/>
          </a:p>
        </p:txBody>
      </p:sp>
      <p:sp>
        <p:nvSpPr>
          <p:cNvPr id="272" name="Google Shape;272;p29"/>
          <p:cNvSpPr txBox="1"/>
          <p:nvPr>
            <p:ph idx="1" type="body"/>
          </p:nvPr>
        </p:nvSpPr>
        <p:spPr>
          <a:xfrm>
            <a:off x="5326025" y="1747375"/>
            <a:ext cx="104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ingestion</a:t>
            </a:r>
            <a:endParaRPr sz="1500"/>
          </a:p>
        </p:txBody>
      </p:sp>
      <p:sp>
        <p:nvSpPr>
          <p:cNvPr id="273" name="Google Shape;273;p29"/>
          <p:cNvSpPr txBox="1"/>
          <p:nvPr>
            <p:ph idx="1" type="body"/>
          </p:nvPr>
        </p:nvSpPr>
        <p:spPr>
          <a:xfrm>
            <a:off x="5326025" y="2700075"/>
            <a:ext cx="119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processing</a:t>
            </a:r>
            <a:endParaRPr sz="1500"/>
          </a:p>
        </p:txBody>
      </p:sp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5326025" y="3820863"/>
            <a:ext cx="132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it" sz="1500"/>
              <a:t>presentation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ctrTitle"/>
          </p:nvPr>
        </p:nvSpPr>
        <p:spPr>
          <a:xfrm>
            <a:off x="727950" y="1952775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3200">
                <a:latin typeface="Raleway"/>
                <a:ea typeface="Raleway"/>
                <a:cs typeface="Raleway"/>
                <a:sym typeface="Raleway"/>
              </a:rPr>
              <a:t>It’s demo time!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ctrTitle"/>
          </p:nvPr>
        </p:nvSpPr>
        <p:spPr>
          <a:xfrm>
            <a:off x="727950" y="1952775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3200">
                <a:latin typeface="Raleway"/>
                <a:ea typeface="Raleway"/>
                <a:cs typeface="Raleway"/>
                <a:sym typeface="Raleway"/>
              </a:rPr>
              <a:t>Thank you for your attention!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